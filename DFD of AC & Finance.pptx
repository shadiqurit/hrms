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20"/>
  </p:notesMasterIdLst>
  <p:handoutMasterIdLst>
    <p:handoutMasterId r:id="rId21"/>
  </p:handoutMasterIdLst>
  <p:sldIdLst>
    <p:sldId id="282" r:id="rId5"/>
    <p:sldId id="256" r:id="rId6"/>
    <p:sldId id="284" r:id="rId7"/>
    <p:sldId id="307" r:id="rId8"/>
    <p:sldId id="297" r:id="rId9"/>
    <p:sldId id="299" r:id="rId10"/>
    <p:sldId id="300" r:id="rId11"/>
    <p:sldId id="283" r:id="rId12"/>
    <p:sldId id="306" r:id="rId13"/>
    <p:sldId id="304" r:id="rId14"/>
    <p:sldId id="303" r:id="rId15"/>
    <p:sldId id="301" r:id="rId16"/>
    <p:sldId id="302" r:id="rId17"/>
    <p:sldId id="305" r:id="rId18"/>
    <p:sldId id="296" r:id="rId1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29" autoAdjust="0"/>
    <p:restoredTop sz="94574" autoAdjust="0"/>
  </p:normalViewPr>
  <p:slideViewPr>
    <p:cSldViewPr snapToGrid="0">
      <p:cViewPr>
        <p:scale>
          <a:sx n="75" d="100"/>
          <a:sy n="75" d="100"/>
        </p:scale>
        <p:origin x="498" y="240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customXml" Target="../customXml/item3.xml"/><Relationship Id="rId21" Type="http://schemas.openxmlformats.org/officeDocument/2006/relationships/handoutMaster" Target="handoutMasters/handout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15-Oct-24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15-Oct-24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16.svg"/><Relationship Id="rId7" Type="http://schemas.openxmlformats.org/officeDocument/2006/relationships/image" Target="../media/image20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9.png"/><Relationship Id="rId5" Type="http://schemas.openxmlformats.org/officeDocument/2006/relationships/image" Target="../media/image18.svg"/><Relationship Id="rId10" Type="http://schemas.openxmlformats.org/officeDocument/2006/relationships/image" Target="../media/image23.jpeg"/><Relationship Id="rId4" Type="http://schemas.openxmlformats.org/officeDocument/2006/relationships/image" Target="../media/image17.png"/><Relationship Id="rId9" Type="http://schemas.openxmlformats.org/officeDocument/2006/relationships/image" Target="../media/image22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7912607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pPr algn="ctr"/>
            <a:r>
              <a:rPr lang="en-US" sz="8000" dirty="0">
                <a:latin typeface="Bauhaus 93" panose="04030905020B02020C02" pitchFamily="82" charset="0"/>
              </a:rPr>
              <a:t>SINA</a:t>
            </a:r>
            <a:r>
              <a:rPr lang="en-US" sz="8000" dirty="0"/>
              <a:t> </a:t>
            </a:r>
            <a:r>
              <a:rPr lang="en-US" sz="8000" b="0" dirty="0">
                <a:solidFill>
                  <a:schemeClr val="accent4">
                    <a:lumMod val="75000"/>
                  </a:schemeClr>
                </a:solidFill>
                <a:latin typeface="Bauhaus 93" panose="04030905020B02020C02" pitchFamily="82" charset="0"/>
              </a:rPr>
              <a:t>ERP</a:t>
            </a:r>
            <a:br>
              <a:rPr lang="en-US" sz="7200" dirty="0"/>
            </a:br>
            <a:endParaRPr lang="en-US" b="0" i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99894" y="848857"/>
            <a:ext cx="6844915" cy="66818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3600" b="1" i="1" dirty="0">
                <a:solidFill>
                  <a:schemeClr val="accent1"/>
                </a:solidFill>
                <a:latin typeface="Garamond" panose="02020404030301010803" pitchFamily="18" charset="0"/>
              </a:rPr>
              <a:t>Accounts &amp; Finance </a:t>
            </a:r>
          </a:p>
          <a:p>
            <a:pPr algn="ctr">
              <a:lnSpc>
                <a:spcPts val="1000"/>
              </a:lnSpc>
            </a:pPr>
            <a:endParaRPr lang="en-US" sz="2000" i="1" dirty="0">
              <a:solidFill>
                <a:srgbClr val="FF0000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br>
              <a:rPr lang="en-US" sz="540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THE IBN SINA PHARMACITICALINDUSTY PLC</a:t>
            </a:r>
            <a:endParaRPr lang="en-US" sz="5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933135" y="1586938"/>
            <a:ext cx="510111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5366340"/>
            <a:ext cx="5124443" cy="895564"/>
          </a:xfrm>
        </p:spPr>
        <p:txBody>
          <a:bodyPr/>
          <a:lstStyle/>
          <a:p>
            <a:r>
              <a:rPr lang="en-US" sz="2000" dirty="0"/>
              <a:t>Presented by : </a:t>
            </a:r>
          </a:p>
          <a:p>
            <a:r>
              <a:rPr lang="en-US" sz="3200" b="1" dirty="0"/>
              <a:t>IT Department</a:t>
            </a:r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327915" y="0"/>
            <a:ext cx="5864085" cy="6857999"/>
          </a:xfrm>
        </p:spPr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76F3BC00-016D-45F4-9C27-3F780E20635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My subtitle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78FD6736-5506-4665-9508-6677F8ABD90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6" name="Picture 5" descr="HD-PanelContent-GrommetsCombined.png">
            <a:extLst>
              <a:ext uri="{FF2B5EF4-FFF2-40B4-BE49-F238E27FC236}">
                <a16:creationId xmlns:a16="http://schemas.microsoft.com/office/drawing/2014/main" id="{654C4F7E-B577-4529-A615-07AE76C3974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825" cy="6856214"/>
          </a:xfrm>
          <a:prstGeom prst="rect">
            <a:avLst/>
          </a:prstGeom>
        </p:spPr>
      </p:pic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F0E56761-CE91-4E0C-94E0-17C9B1F5E1A1}"/>
              </a:ext>
            </a:extLst>
          </p:cNvPr>
          <p:cNvSpPr txBox="1">
            <a:spLocks/>
          </p:cNvSpPr>
          <p:nvPr/>
        </p:nvSpPr>
        <p:spPr>
          <a:xfrm>
            <a:off x="1423686" y="915872"/>
            <a:ext cx="9472912" cy="611986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b="1" kern="1200" spc="-15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dirty="0"/>
              <a:t>Finance &amp; Accounts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5CAA7086-50EB-487B-91F2-8E8F2A1BAB36}"/>
              </a:ext>
            </a:extLst>
          </p:cNvPr>
          <p:cNvSpPr txBox="1">
            <a:spLocks/>
          </p:cNvSpPr>
          <p:nvPr/>
        </p:nvSpPr>
        <p:spPr>
          <a:xfrm>
            <a:off x="1301136" y="1868617"/>
            <a:ext cx="10048735" cy="2644198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numCol="2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42950" indent="-742950">
              <a:buFont typeface="+mj-lt"/>
              <a:buAutoNum type="alphaLcParenR"/>
            </a:pPr>
            <a:r>
              <a:rPr lang="en-US" sz="4000" dirty="0"/>
              <a:t>Chart of Accounts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General Ledger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Cash Management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Payable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Receivable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Fixed Asset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Treasury</a:t>
            </a:r>
          </a:p>
          <a:p>
            <a:pPr marL="742950" indent="-742950">
              <a:buFont typeface="+mj-lt"/>
              <a:buAutoNum type="alphaLcParenR"/>
            </a:pPr>
            <a:r>
              <a:rPr lang="en-US" sz="4000" dirty="0"/>
              <a:t>Reports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ABDFD92-BF12-415B-B1FB-4FC5B2CA37D0}"/>
              </a:ext>
            </a:extLst>
          </p:cNvPr>
          <p:cNvSpPr txBox="1">
            <a:spLocks/>
          </p:cNvSpPr>
          <p:nvPr/>
        </p:nvSpPr>
        <p:spPr>
          <a:xfrm>
            <a:off x="10353901" y="5969000"/>
            <a:ext cx="542697" cy="2794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57F1E4F-1CFF-5643-939E-217C01CDF56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EF20D91-716D-490D-9C3E-180436D9EB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20478" y="502993"/>
            <a:ext cx="9551043" cy="5852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883787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95950ACB-F002-47F6-B423-02E9FD528F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1200" y="280874"/>
            <a:ext cx="10833100" cy="62962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94959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2166D95-9135-4D42-9A45-558374977C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6056" y="312738"/>
            <a:ext cx="11105624" cy="6043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B775C2EB-1BF6-4690-8AF9-77DA09F432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4036" y="407988"/>
            <a:ext cx="11218863" cy="59378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6688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A49F70A3-BF6F-4D2F-B2B3-D461453853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1644" y="386354"/>
            <a:ext cx="11335544" cy="6085291"/>
          </a:xfrm>
          <a:prstGeom prst="rect">
            <a:avLst/>
          </a:prstGeom>
          <a:ln>
            <a:solidFill>
              <a:srgbClr val="92D050"/>
            </a:solidFill>
          </a:ln>
        </p:spPr>
      </p:pic>
    </p:spTree>
    <p:extLst>
      <p:ext uri="{BB962C8B-B14F-4D97-AF65-F5344CB8AC3E}">
        <p14:creationId xmlns:p14="http://schemas.microsoft.com/office/powerpoint/2010/main" val="193664894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516834" y="868101"/>
            <a:ext cx="9182749" cy="5671595"/>
          </a:xfrm>
        </p:spPr>
        <p:txBody>
          <a:bodyPr/>
          <a:lstStyle/>
          <a:p>
            <a:r>
              <a:rPr lang="en-US" sz="1600" dirty="0"/>
              <a:t>An </a:t>
            </a:r>
            <a:r>
              <a:rPr lang="en-US" sz="1600" i="1" dirty="0"/>
              <a:t>invoice</a:t>
            </a:r>
            <a:r>
              <a:rPr lang="en-US" sz="1600" dirty="0"/>
              <a:t> is an itemized list of goods shipped or services rendered, with an account of all costs. Payables lets you capture all the attributes of the real-life invoice documents you receive from your suppliers. When you enter an invoice in Payables, the invoice information is divided between the invoice header and the invoice lines.</a:t>
            </a:r>
          </a:p>
          <a:p>
            <a:endParaRPr lang="en-US" sz="800" dirty="0"/>
          </a:p>
          <a:p>
            <a:r>
              <a:rPr lang="en-US" sz="1600" b="1" u="sng" dirty="0">
                <a:solidFill>
                  <a:srgbClr val="7030A0"/>
                </a:solidFill>
              </a:rPr>
              <a:t>Invoice Types</a:t>
            </a:r>
            <a:endParaRPr lang="en-US" sz="1600" u="sng" dirty="0">
              <a:solidFill>
                <a:srgbClr val="7030A0"/>
              </a:solidFill>
            </a:endParaRPr>
          </a:p>
          <a:p>
            <a:r>
              <a:rPr lang="en-US" sz="1600" b="1" dirty="0"/>
              <a:t>Standard: </a:t>
            </a:r>
            <a:br>
              <a:rPr lang="en-US" sz="1600" b="1" dirty="0"/>
            </a:br>
            <a:r>
              <a:rPr lang="en-US" sz="1600" dirty="0"/>
              <a:t>An invoice from a supplier representing an amount due for goods or services purchased. Standard invoices can be either matched to a purchase order or not matched.</a:t>
            </a:r>
          </a:p>
          <a:p>
            <a:r>
              <a:rPr lang="en-US" sz="1600" b="1" dirty="0"/>
              <a:t>Credit Memo: </a:t>
            </a:r>
            <a:br>
              <a:rPr lang="en-US" sz="1600" b="1" dirty="0"/>
            </a:br>
            <a:r>
              <a:rPr lang="en-US" sz="1600" dirty="0"/>
              <a:t>A memo from a supplier representing a credit amount toward goods or services</a:t>
            </a:r>
          </a:p>
          <a:p>
            <a:r>
              <a:rPr lang="en-US" sz="1600" b="1" dirty="0"/>
              <a:t>Debit Memo: </a:t>
            </a:r>
            <a:br>
              <a:rPr lang="en-US" sz="1600" b="1" dirty="0"/>
            </a:br>
            <a:r>
              <a:rPr lang="en-US" sz="1600" dirty="0"/>
              <a:t>An invoice you enter to record a credit for a supplier who does not send you a credit memo.</a:t>
            </a:r>
          </a:p>
          <a:p>
            <a:r>
              <a:rPr lang="en-US" sz="1600" b="1" dirty="0"/>
              <a:t>Advance : </a:t>
            </a:r>
            <a:br>
              <a:rPr lang="en-US" sz="1600" b="1" dirty="0"/>
            </a:br>
            <a:r>
              <a:rPr lang="en-US" sz="1600" dirty="0"/>
              <a:t>A type of invoice you enter to pay an advance payment for expenses to a supplier or employee.</a:t>
            </a:r>
          </a:p>
          <a:p>
            <a:r>
              <a:rPr lang="en-US" sz="1600" b="1" dirty="0"/>
              <a:t>Employee Expense:</a:t>
            </a:r>
          </a:p>
          <a:p>
            <a:r>
              <a:rPr lang="en-US" sz="1600" dirty="0"/>
              <a:t>An invoice representing an amount due to an employee for business-related expenses.</a:t>
            </a:r>
          </a:p>
          <a:p>
            <a:r>
              <a:rPr lang="en-US" sz="1600" b="1" dirty="0"/>
              <a:t>Withholding Tax:</a:t>
            </a:r>
          </a:p>
          <a:p>
            <a:r>
              <a:rPr lang="en-US" sz="1600" dirty="0"/>
              <a:t>An invoice you enter to remit taxes withheld to the appropriate tax authority.</a:t>
            </a:r>
          </a:p>
          <a:p>
            <a:endParaRPr lang="en-US" sz="16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10" name="Picture Placeholder 9" descr="Spiraling inside of a shell" title="Spiraling inside of a shell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9699584" y="0"/>
            <a:ext cx="2492415" cy="6858000"/>
          </a:xfr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ACA8A2A8-AE54-4E41-8EFF-7E08F6ED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318304"/>
            <a:ext cx="9182748" cy="549797"/>
          </a:xfrm>
        </p:spPr>
        <p:txBody>
          <a:bodyPr/>
          <a:lstStyle/>
          <a:p>
            <a:r>
              <a:rPr lang="en-US" dirty="0"/>
              <a:t>Payable Voucher Entry</a:t>
            </a:r>
          </a:p>
        </p:txBody>
      </p:sp>
    </p:spTree>
    <p:extLst>
      <p:ext uri="{BB962C8B-B14F-4D97-AF65-F5344CB8AC3E}">
        <p14:creationId xmlns:p14="http://schemas.microsoft.com/office/powerpoint/2010/main" val="132974669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516834" y="868101"/>
            <a:ext cx="10285278" cy="5671595"/>
          </a:xfrm>
        </p:spPr>
        <p:txBody>
          <a:bodyPr numCol="2"/>
          <a:lstStyle/>
          <a:p>
            <a:r>
              <a:rPr lang="en-US" sz="1400" b="1" dirty="0"/>
              <a:t>When we receive the Goods in the staging area the accounting entry would be (MRR):</a:t>
            </a:r>
          </a:p>
          <a:p>
            <a:r>
              <a:rPr lang="en-US" sz="1400" dirty="0"/>
              <a:t>Receiving Inventory --- </a:t>
            </a:r>
            <a:r>
              <a:rPr lang="en-US" sz="1400" dirty="0" err="1"/>
              <a:t>Dr</a:t>
            </a:r>
            <a:r>
              <a:rPr lang="en-US" sz="1400" dirty="0"/>
              <a:t>-----It will pick from receiving options.</a:t>
            </a:r>
          </a:p>
          <a:p>
            <a:r>
              <a:rPr lang="en-US" sz="1400" dirty="0" err="1"/>
              <a:t>Ap</a:t>
            </a:r>
            <a:r>
              <a:rPr lang="en-US" sz="1400" dirty="0"/>
              <a:t> Accrual --- Cr---It will pick from Purchasing Options.</a:t>
            </a:r>
          </a:p>
          <a:p>
            <a:r>
              <a:rPr lang="en-US" sz="1400" b="1" dirty="0"/>
              <a:t>When we are moving the Goods from Staging area to Sub-</a:t>
            </a:r>
            <a:r>
              <a:rPr lang="en-US" sz="1400" b="1" dirty="0" err="1"/>
              <a:t>Inv</a:t>
            </a:r>
            <a:r>
              <a:rPr lang="en-US" sz="1400" b="1" dirty="0"/>
              <a:t> (</a:t>
            </a:r>
            <a:r>
              <a:rPr lang="en-US" sz="1400" b="1" dirty="0" err="1"/>
              <a:t>Recv</a:t>
            </a:r>
            <a:r>
              <a:rPr lang="en-US" sz="1400" b="1" dirty="0"/>
              <a:t> Trans):</a:t>
            </a:r>
          </a:p>
          <a:p>
            <a:r>
              <a:rPr lang="en-US" sz="1400" dirty="0"/>
              <a:t>Material A/C  --- </a:t>
            </a:r>
            <a:r>
              <a:rPr lang="en-US" sz="1400" dirty="0" err="1"/>
              <a:t>Dr</a:t>
            </a:r>
            <a:r>
              <a:rPr lang="en-US" sz="1400" dirty="0"/>
              <a:t> -----It will pick from Inventory Options</a:t>
            </a:r>
          </a:p>
          <a:p>
            <a:r>
              <a:rPr lang="en-US" sz="1400" dirty="0"/>
              <a:t>Receiving </a:t>
            </a:r>
            <a:r>
              <a:rPr lang="en-US" sz="1400" dirty="0" err="1"/>
              <a:t>Inv</a:t>
            </a:r>
            <a:r>
              <a:rPr lang="en-US" sz="1400" dirty="0"/>
              <a:t> --- Cr -----It will pick from Receiving Options</a:t>
            </a:r>
          </a:p>
          <a:p>
            <a:r>
              <a:rPr lang="en-US" sz="1400" b="1" dirty="0"/>
              <a:t>While Creating Invoice:</a:t>
            </a:r>
          </a:p>
          <a:p>
            <a:r>
              <a:rPr lang="en-US" sz="1400" dirty="0" err="1"/>
              <a:t>Ap</a:t>
            </a:r>
            <a:r>
              <a:rPr lang="en-US" sz="1400" dirty="0"/>
              <a:t> Accrual ---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/>
              <a:t>Liability  --- Cr ----- It will pick from supplier Liability</a:t>
            </a:r>
          </a:p>
          <a:p>
            <a:r>
              <a:rPr lang="en-US" sz="1400" b="1" dirty="0"/>
              <a:t>While Making Payment:</a:t>
            </a:r>
          </a:p>
          <a:p>
            <a:r>
              <a:rPr lang="en-US" sz="1400" dirty="0"/>
              <a:t>Liability     –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/>
              <a:t>Cash Clearing – Cr ----- It will pick from Bank</a:t>
            </a:r>
          </a:p>
          <a:p>
            <a:r>
              <a:rPr lang="en-US" sz="1400" b="1" dirty="0"/>
              <a:t>Cash/Bank Reconciliation:</a:t>
            </a:r>
          </a:p>
          <a:p>
            <a:r>
              <a:rPr lang="en-US" sz="1400" dirty="0"/>
              <a:t>Cash Clearing ---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/>
              <a:t>Cash – Cr</a:t>
            </a:r>
          </a:p>
          <a:p>
            <a:endParaRPr lang="en-US" sz="1400" dirty="0"/>
          </a:p>
          <a:p>
            <a:r>
              <a:rPr lang="en-US" sz="1400" b="1" dirty="0"/>
              <a:t>standard Invoice Entry :</a:t>
            </a:r>
          </a:p>
          <a:p>
            <a:r>
              <a:rPr lang="en-US" sz="1400" dirty="0" err="1"/>
              <a:t>Ap</a:t>
            </a:r>
            <a:r>
              <a:rPr lang="en-US" sz="1400" dirty="0"/>
              <a:t> Accrual ---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/>
              <a:t>Liability  --- Cr</a:t>
            </a:r>
          </a:p>
          <a:p>
            <a:r>
              <a:rPr lang="en-US" sz="1400" b="1" dirty="0"/>
              <a:t>Debit and Credit Memo Entries:</a:t>
            </a:r>
          </a:p>
          <a:p>
            <a:r>
              <a:rPr lang="en-US" sz="1400" dirty="0"/>
              <a:t>Liability ---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 err="1"/>
              <a:t>Ap</a:t>
            </a:r>
            <a:r>
              <a:rPr lang="en-US" sz="1400" dirty="0"/>
              <a:t> Accrual--- Cr</a:t>
            </a:r>
          </a:p>
          <a:p>
            <a:r>
              <a:rPr lang="en-US" sz="1400" b="1" dirty="0"/>
              <a:t>Prepayment (Advance) Entries:</a:t>
            </a:r>
          </a:p>
          <a:p>
            <a:r>
              <a:rPr lang="en-US" sz="1400" b="1" dirty="0"/>
              <a:t>While Creating Prepayment Invoice:</a:t>
            </a:r>
          </a:p>
          <a:p>
            <a:r>
              <a:rPr lang="en-US" sz="1400" dirty="0"/>
              <a:t>Prepayment --- </a:t>
            </a:r>
            <a:r>
              <a:rPr lang="en-US" sz="1400" dirty="0" err="1"/>
              <a:t>Dr</a:t>
            </a:r>
            <a:r>
              <a:rPr lang="en-US" sz="1400" dirty="0"/>
              <a:t>----It will pick from supplier</a:t>
            </a:r>
          </a:p>
          <a:p>
            <a:r>
              <a:rPr lang="en-US" sz="1400" dirty="0"/>
              <a:t>Liability –--- Cr----It will pick from supplier</a:t>
            </a:r>
          </a:p>
          <a:p>
            <a:r>
              <a:rPr lang="en-US" sz="1400" b="1" dirty="0"/>
              <a:t>While Making Payment to Prepayment:</a:t>
            </a:r>
          </a:p>
          <a:p>
            <a:r>
              <a:rPr lang="en-US" sz="1400" dirty="0"/>
              <a:t>Liability –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/>
              <a:t>Cash – Cr</a:t>
            </a:r>
          </a:p>
          <a:p>
            <a:r>
              <a:rPr lang="en-US" sz="1400" b="1" dirty="0"/>
              <a:t>While applying Prepayment on Standard Invoice:</a:t>
            </a:r>
          </a:p>
          <a:p>
            <a:r>
              <a:rPr lang="en-US" sz="1400" dirty="0"/>
              <a:t>Liability --- </a:t>
            </a:r>
            <a:r>
              <a:rPr lang="en-US" sz="1400" dirty="0" err="1"/>
              <a:t>Dr</a:t>
            </a:r>
            <a:endParaRPr lang="en-US" sz="1400" dirty="0"/>
          </a:p>
          <a:p>
            <a:r>
              <a:rPr lang="en-US" sz="1400" dirty="0"/>
              <a:t>Prepayment – Cr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9</a:t>
            </a:fld>
            <a:endParaRPr lang="en-US" dirty="0"/>
          </a:p>
        </p:txBody>
      </p:sp>
      <p:pic>
        <p:nvPicPr>
          <p:cNvPr id="10" name="Picture Placeholder 9" descr="Spiraling inside of a shell" title="Spiraling inside of a shell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9699584" y="0"/>
            <a:ext cx="2492415" cy="6858000"/>
          </a:xfr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ACA8A2A8-AE54-4E41-8EFF-7E08F6ED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318304"/>
            <a:ext cx="9182748" cy="549797"/>
          </a:xfrm>
        </p:spPr>
        <p:txBody>
          <a:bodyPr/>
          <a:lstStyle/>
          <a:p>
            <a:r>
              <a:rPr lang="en-US" dirty="0"/>
              <a:t>Auto Journal Entry of Payable</a:t>
            </a:r>
          </a:p>
        </p:txBody>
      </p:sp>
    </p:spTree>
    <p:extLst>
      <p:ext uri="{BB962C8B-B14F-4D97-AF65-F5344CB8AC3E}">
        <p14:creationId xmlns:p14="http://schemas.microsoft.com/office/powerpoint/2010/main" val="205594139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80800F3-A1C5-4707-9D66-1BB2040F7B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5293" y="2368525"/>
            <a:ext cx="11301413" cy="3960837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95EE475-06B0-46CB-99E7-AC933C3F06B8}"/>
              </a:ext>
            </a:extLst>
          </p:cNvPr>
          <p:cNvSpPr txBox="1"/>
          <p:nvPr/>
        </p:nvSpPr>
        <p:spPr>
          <a:xfrm>
            <a:off x="445293" y="528638"/>
            <a:ext cx="1130141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u="sng" dirty="0">
                <a:solidFill>
                  <a:srgbClr val="7030A0"/>
                </a:solidFill>
              </a:rPr>
              <a:t>The Supplier Site: </a:t>
            </a:r>
          </a:p>
          <a:p>
            <a:r>
              <a:rPr lang="en-US" sz="2000" b="1" dirty="0"/>
              <a:t>Entity that captures the business relationship between a procurement business unit in a buying organization and the supplier</a:t>
            </a:r>
            <a:r>
              <a:rPr lang="en-US" sz="2000" dirty="0"/>
              <a:t>. The site captures business terms and conditions as negotiated by the business unit with the supplier.</a:t>
            </a:r>
          </a:p>
        </p:txBody>
      </p:sp>
    </p:spTree>
    <p:extLst>
      <p:ext uri="{BB962C8B-B14F-4D97-AF65-F5344CB8AC3E}">
        <p14:creationId xmlns:p14="http://schemas.microsoft.com/office/powerpoint/2010/main" val="391678846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06C12A7-7663-41E5-B036-1E1BF5CEE2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7174" y="291150"/>
            <a:ext cx="11702893" cy="61810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461784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1CA51D40-E8B7-4C45-9D26-AB9B216BDC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8650" y="695838"/>
            <a:ext cx="11229975" cy="5466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206463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8B78F72-9AFF-4520-90CC-8BE82B46D1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9075" y="278310"/>
            <a:ext cx="11759878" cy="470407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11148C66-85EE-4B48-A136-DC20257F3D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67549" y="2379502"/>
            <a:ext cx="5715798" cy="3810532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24E5F1E8-F46B-4DA9-B60B-4DBC91A7670D}"/>
              </a:ext>
            </a:extLst>
          </p:cNvPr>
          <p:cNvSpPr/>
          <p:nvPr/>
        </p:nvSpPr>
        <p:spPr>
          <a:xfrm>
            <a:off x="10976054" y="2093027"/>
            <a:ext cx="800100" cy="2286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83B79E9F-C581-4A75-B3CE-D0DA4541DC44}"/>
              </a:ext>
            </a:extLst>
          </p:cNvPr>
          <p:cNvCxnSpPr/>
          <p:nvPr/>
        </p:nvCxnSpPr>
        <p:spPr>
          <a:xfrm flipH="1">
            <a:off x="7283347" y="2321627"/>
            <a:ext cx="3692707" cy="629917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65790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C9F1815B-F142-46C4-A7ED-5100DF1C77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536" y="958843"/>
            <a:ext cx="11723764" cy="443681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4A3EDD55-80E5-4229-B42F-0BCB436B39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01768" y="2956627"/>
            <a:ext cx="6868484" cy="280074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E000CF5A-8BD9-47E9-9674-3EFC38DFF699}"/>
              </a:ext>
            </a:extLst>
          </p:cNvPr>
          <p:cNvCxnSpPr>
            <a:cxnSpLocks/>
          </p:cNvCxnSpPr>
          <p:nvPr/>
        </p:nvCxnSpPr>
        <p:spPr>
          <a:xfrm flipV="1">
            <a:off x="419100" y="3733800"/>
            <a:ext cx="2082668" cy="97790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9B83BC1C-CBB8-466F-AC9B-12A027755C9F}"/>
              </a:ext>
            </a:extLst>
          </p:cNvPr>
          <p:cNvSpPr/>
          <p:nvPr/>
        </p:nvSpPr>
        <p:spPr>
          <a:xfrm>
            <a:off x="10137854" y="2728027"/>
            <a:ext cx="800100" cy="2286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896731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Thank You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664575" y="3906982"/>
            <a:ext cx="28505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6648" y="4797111"/>
            <a:ext cx="218900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IT Department</a:t>
            </a:r>
          </a:p>
        </p:txBody>
      </p:sp>
      <p:pic>
        <p:nvPicPr>
          <p:cNvPr id="10" name="Graphic 9" descr="Icon - Smart Phone">
            <a:extLst>
              <a:ext uri="{FF2B5EF4-FFF2-40B4-BE49-F238E27FC236}">
                <a16:creationId xmlns:a16="http://schemas.microsoft.com/office/drawing/2014/main" id="{A29DE31C-E099-4579-BB03-675E0A40C5F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6648" y="5205871"/>
            <a:ext cx="218900" cy="218900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1265965-2271-4C1C-BD0A-6F85F80FF9A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9" name="Graphic 8" descr="Icon Email">
            <a:extLst>
              <a:ext uri="{FF2B5EF4-FFF2-40B4-BE49-F238E27FC236}">
                <a16:creationId xmlns:a16="http://schemas.microsoft.com/office/drawing/2014/main" id="{773C1382-ACE1-460F-A1B6-AB761A7D2E6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36648" y="5573589"/>
            <a:ext cx="218900" cy="218900"/>
          </a:xfrm>
          <a:prstGeom prst="rect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0A3BCC3-A277-4C0B-9EBA-EB53990D8EB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Graphic 10" descr="Link">
            <a:extLst>
              <a:ext uri="{FF2B5EF4-FFF2-40B4-BE49-F238E27FC236}">
                <a16:creationId xmlns:a16="http://schemas.microsoft.com/office/drawing/2014/main" id="{0718E6E0-05A2-479C-AEA8-1A385EB73474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19789" y="5941307"/>
            <a:ext cx="244786" cy="244786"/>
          </a:xfrm>
          <a:prstGeom prst="rect">
            <a:avLst/>
          </a:prstGeo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04F9D3C-51F3-4BD1-A68B-CAE380619B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dirty="0"/>
              <a:t>www.ibnsinapharma.com</a:t>
            </a:r>
          </a:p>
        </p:txBody>
      </p:sp>
      <p:pic>
        <p:nvPicPr>
          <p:cNvPr id="12" name="Picture Placeholder 11" descr="Green fern" title="Green fern">
            <a:extLst>
              <a:ext uri="{FF2B5EF4-FFF2-40B4-BE49-F238E27FC236}">
                <a16:creationId xmlns:a16="http://schemas.microsoft.com/office/drawing/2014/main" id="{4323005A-5C0E-47CB-A851-80B7F2A01FA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0E111B19-7283-4751-B1F8-E7CC95678A87}">
  <ds:schemaRefs>
    <ds:schemaRef ds:uri="http://schemas.microsoft.com/office/2006/metadata/properties"/>
    <ds:schemaRef ds:uri="http://schemas.microsoft.com/office/infopath/2007/PartnerControls"/>
    <ds:schemaRef ds:uri="71af3243-3dd4-4a8d-8c0d-dd76da1f02a5"/>
  </ds:schemaRefs>
</ds:datastoreItem>
</file>

<file path=customXml/itemProps2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295</Words>
  <Application>Microsoft Office PowerPoint</Application>
  <PresentationFormat>Widescreen</PresentationFormat>
  <Paragraphs>70</Paragraphs>
  <Slides>15</Slides>
  <Notes>0</Notes>
  <HiddenSlides>1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15</vt:i4>
      </vt:variant>
    </vt:vector>
  </HeadingPairs>
  <TitlesOfParts>
    <vt:vector size="22" baseType="lpstr">
      <vt:lpstr>Arial</vt:lpstr>
      <vt:lpstr>Bauhaus 93</vt:lpstr>
      <vt:lpstr>Calibri</vt:lpstr>
      <vt:lpstr>Corbel</vt:lpstr>
      <vt:lpstr>Garamond</vt:lpstr>
      <vt:lpstr>Times New Roman</vt:lpstr>
      <vt:lpstr>Office Theme</vt:lpstr>
      <vt:lpstr>SINA ERP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Payable Voucher Entry</vt:lpstr>
      <vt:lpstr>Auto Journal Entry of Payable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2024-10-06T02:28:11Z</dcterms:created>
  <dcterms:modified xsi:type="dcterms:W3CDTF">2024-10-15T10:00:30Z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